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60" r:id="rId2"/>
    <p:sldId id="277" r:id="rId3"/>
    <p:sldId id="279" r:id="rId4"/>
    <p:sldId id="292" r:id="rId5"/>
    <p:sldId id="278" r:id="rId6"/>
    <p:sldId id="280" r:id="rId7"/>
    <p:sldId id="281" r:id="rId8"/>
    <p:sldId id="282" r:id="rId9"/>
    <p:sldId id="283" r:id="rId10"/>
    <p:sldId id="290" r:id="rId11"/>
    <p:sldId id="286" r:id="rId12"/>
    <p:sldId id="285" r:id="rId13"/>
    <p:sldId id="287" r:id="rId14"/>
    <p:sldId id="289" r:id="rId15"/>
    <p:sldId id="291" r:id="rId16"/>
    <p:sldId id="288"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90D1"/>
    <a:srgbClr val="00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AC124-F324-402A-844C-F92457C41010}" v="4" dt="2025-05-29T18:26:30.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F5D7F6-5397-41E8-A4FF-93605CEA9F45}" type="datetimeFigureOut">
              <a:rPr lang="en-IN" smtClean="0"/>
              <a:t>30-05-2025</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DAYANANDA SAGAR COLLEGE OF ENGINEERING</a:t>
            </a:r>
            <a:endParaRPr lang="en-IN"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E92D3-DB92-42DC-8BB6-8A892AE8BD63}" type="slidenum">
              <a:rPr lang="en-IN" smtClean="0"/>
              <a:t>‹#›</a:t>
            </a:fld>
            <a:endParaRPr lang="en-IN" dirty="0"/>
          </a:p>
        </p:txBody>
      </p:sp>
    </p:spTree>
    <p:extLst>
      <p:ext uri="{BB962C8B-B14F-4D97-AF65-F5344CB8AC3E}">
        <p14:creationId xmlns:p14="http://schemas.microsoft.com/office/powerpoint/2010/main" val="6080377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94FA3-493A-4D0B-881F-371314366628}" type="datetimeFigureOut">
              <a:rPr lang="en-IN" smtClean="0"/>
              <a:t>30-05-2025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DAYANANDA SAGAR COLLEGE OF ENGINEERING</a:t>
            </a:r>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E3B792-012D-4E00-B763-2BFBCB2B7E09}" type="slidenum">
              <a:rPr lang="en-IN" smtClean="0"/>
              <a:t>‹#›</a:t>
            </a:fld>
            <a:endParaRPr lang="en-IN" dirty="0"/>
          </a:p>
        </p:txBody>
      </p:sp>
    </p:spTree>
    <p:extLst>
      <p:ext uri="{BB962C8B-B14F-4D97-AF65-F5344CB8AC3E}">
        <p14:creationId xmlns:p14="http://schemas.microsoft.com/office/powerpoint/2010/main" val="409493973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552EAED-823F-4ED8-8FCF-96AF6D568A21}" type="datetime1">
              <a:rPr lang="en-IN" smtClean="0"/>
              <a:t>30-05-2025</a:t>
            </a:fld>
            <a:endParaRPr lang="en-IN" dirty="0"/>
          </a:p>
        </p:txBody>
      </p:sp>
      <p:sp>
        <p:nvSpPr>
          <p:cNvPr id="5" name="Footer Placeholder 4"/>
          <p:cNvSpPr>
            <a:spLocks noGrp="1"/>
          </p:cNvSpPr>
          <p:nvPr>
            <p:ph type="ftr" sz="quarter" idx="11"/>
          </p:nvPr>
        </p:nvSpPr>
        <p:spPr/>
        <p:txBody>
          <a:bodyPr/>
          <a:lstStyle/>
          <a:p>
            <a:r>
              <a:rPr lang="en-US" dirty="0"/>
              <a:t>DAYANANDA SAGAR COLLEGE OF ENGINEERING</a:t>
            </a:r>
            <a:endParaRPr lang="en-IN" dirty="0"/>
          </a:p>
        </p:txBody>
      </p:sp>
      <p:sp>
        <p:nvSpPr>
          <p:cNvPr id="6" name="Slide Number Placeholder 5"/>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1130632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4FF30D3-4678-4617-8E5A-5F1AF2BE60A6}" type="datetime1">
              <a:rPr lang="en-IN" smtClean="0"/>
              <a:t>30-05-2025</a:t>
            </a:fld>
            <a:endParaRPr lang="en-IN" dirty="0"/>
          </a:p>
        </p:txBody>
      </p:sp>
      <p:sp>
        <p:nvSpPr>
          <p:cNvPr id="5" name="Footer Placeholder 4"/>
          <p:cNvSpPr>
            <a:spLocks noGrp="1"/>
          </p:cNvSpPr>
          <p:nvPr>
            <p:ph type="ftr" sz="quarter" idx="11"/>
          </p:nvPr>
        </p:nvSpPr>
        <p:spPr/>
        <p:txBody>
          <a:bodyPr/>
          <a:lstStyle/>
          <a:p>
            <a:r>
              <a:rPr lang="en-US" dirty="0"/>
              <a:t>DAYANANDA SAGAR COLLEGE OF ENGINEERING</a:t>
            </a:r>
            <a:endParaRPr lang="en-IN" dirty="0"/>
          </a:p>
        </p:txBody>
      </p:sp>
      <p:sp>
        <p:nvSpPr>
          <p:cNvPr id="6" name="Slide Number Placeholder 5"/>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384138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97A602-C926-4D0A-B346-C60C10B8D681}" type="datetime1">
              <a:rPr lang="en-IN" smtClean="0"/>
              <a:t>30-05-2025</a:t>
            </a:fld>
            <a:endParaRPr lang="en-IN" dirty="0"/>
          </a:p>
        </p:txBody>
      </p:sp>
      <p:sp>
        <p:nvSpPr>
          <p:cNvPr id="5" name="Footer Placeholder 4"/>
          <p:cNvSpPr>
            <a:spLocks noGrp="1"/>
          </p:cNvSpPr>
          <p:nvPr>
            <p:ph type="ftr" sz="quarter" idx="11"/>
          </p:nvPr>
        </p:nvSpPr>
        <p:spPr/>
        <p:txBody>
          <a:bodyPr/>
          <a:lstStyle/>
          <a:p>
            <a:r>
              <a:rPr lang="en-US" dirty="0"/>
              <a:t>DAYANANDA SAGAR COLLEGE OF ENGINEERING</a:t>
            </a:r>
            <a:endParaRPr lang="en-IN" dirty="0"/>
          </a:p>
        </p:txBody>
      </p:sp>
      <p:sp>
        <p:nvSpPr>
          <p:cNvPr id="6" name="Slide Number Placeholder 5"/>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3041659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E0FABCA-F942-4267-9EBE-46EF6D58449B}" type="datetime1">
              <a:rPr lang="en-IN" smtClean="0"/>
              <a:t>30-05-2025</a:t>
            </a:fld>
            <a:endParaRPr lang="en-IN" dirty="0"/>
          </a:p>
        </p:txBody>
      </p:sp>
      <p:sp>
        <p:nvSpPr>
          <p:cNvPr id="6" name="Footer Placeholder 5"/>
          <p:cNvSpPr>
            <a:spLocks noGrp="1"/>
          </p:cNvSpPr>
          <p:nvPr>
            <p:ph type="ftr" sz="quarter" idx="11"/>
          </p:nvPr>
        </p:nvSpPr>
        <p:spPr/>
        <p:txBody>
          <a:bodyPr/>
          <a:lstStyle/>
          <a:p>
            <a:r>
              <a:rPr lang="en-US" dirty="0"/>
              <a:t>DAYANANDA SAGAR COLLEGE OF ENGINEERING</a:t>
            </a:r>
            <a:endParaRPr lang="en-IN" dirty="0"/>
          </a:p>
        </p:txBody>
      </p:sp>
      <p:sp>
        <p:nvSpPr>
          <p:cNvPr id="7" name="Slide Number Placeholder 6"/>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3590324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91D9C33-582C-4E20-8FB2-544DFAB8726C}" type="datetime1">
              <a:rPr lang="en-IN" smtClean="0"/>
              <a:t>30-05-2025</a:t>
            </a:fld>
            <a:endParaRPr lang="en-IN" dirty="0"/>
          </a:p>
        </p:txBody>
      </p:sp>
      <p:sp>
        <p:nvSpPr>
          <p:cNvPr id="8" name="Footer Placeholder 7"/>
          <p:cNvSpPr>
            <a:spLocks noGrp="1"/>
          </p:cNvSpPr>
          <p:nvPr>
            <p:ph type="ftr" sz="quarter" idx="11"/>
          </p:nvPr>
        </p:nvSpPr>
        <p:spPr/>
        <p:txBody>
          <a:bodyPr/>
          <a:lstStyle/>
          <a:p>
            <a:r>
              <a:rPr lang="en-US" dirty="0"/>
              <a:t>DAYANANDA SAGAR COLLEGE OF ENGINEERING</a:t>
            </a:r>
            <a:endParaRPr lang="en-IN" dirty="0"/>
          </a:p>
        </p:txBody>
      </p:sp>
      <p:sp>
        <p:nvSpPr>
          <p:cNvPr id="9" name="Slide Number Placeholder 8"/>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1548899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89DB5FC-FE9C-4CF6-B017-4543AEB2EAE5}" type="datetime1">
              <a:rPr lang="en-IN" smtClean="0"/>
              <a:t>30-05-2025</a:t>
            </a:fld>
            <a:endParaRPr lang="en-IN" dirty="0"/>
          </a:p>
        </p:txBody>
      </p:sp>
      <p:sp>
        <p:nvSpPr>
          <p:cNvPr id="4" name="Footer Placeholder 3"/>
          <p:cNvSpPr>
            <a:spLocks noGrp="1"/>
          </p:cNvSpPr>
          <p:nvPr>
            <p:ph type="ftr" sz="quarter" idx="11"/>
          </p:nvPr>
        </p:nvSpPr>
        <p:spPr/>
        <p:txBody>
          <a:bodyPr/>
          <a:lstStyle/>
          <a:p>
            <a:r>
              <a:rPr lang="en-US" dirty="0"/>
              <a:t>DAYANANDA SAGAR COLLEGE OF ENGINEERING</a:t>
            </a:r>
            <a:endParaRPr lang="en-IN" dirty="0"/>
          </a:p>
        </p:txBody>
      </p:sp>
      <p:sp>
        <p:nvSpPr>
          <p:cNvPr id="5" name="Slide Number Placeholder 4"/>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331685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0E7F11-254D-4A57-ADD8-9937DF51DC42}" type="datetime1">
              <a:rPr lang="en-IN" smtClean="0"/>
              <a:t>30-05-2025</a:t>
            </a:fld>
            <a:endParaRPr lang="en-IN" dirty="0"/>
          </a:p>
        </p:txBody>
      </p:sp>
      <p:sp>
        <p:nvSpPr>
          <p:cNvPr id="3" name="Footer Placeholder 2"/>
          <p:cNvSpPr>
            <a:spLocks noGrp="1"/>
          </p:cNvSpPr>
          <p:nvPr>
            <p:ph type="ftr" sz="quarter" idx="11"/>
          </p:nvPr>
        </p:nvSpPr>
        <p:spPr/>
        <p:txBody>
          <a:bodyPr/>
          <a:lstStyle/>
          <a:p>
            <a:r>
              <a:rPr lang="en-US" dirty="0"/>
              <a:t>DAYANANDA SAGAR COLLEGE OF ENGINEERING</a:t>
            </a:r>
            <a:endParaRPr lang="en-IN" dirty="0"/>
          </a:p>
        </p:txBody>
      </p:sp>
      <p:sp>
        <p:nvSpPr>
          <p:cNvPr id="4" name="Slide Number Placeholder 3"/>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63030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614D4E9-A179-47A8-B1EF-6C74DC395626}" type="datetime1">
              <a:rPr lang="en-IN" smtClean="0"/>
              <a:t>30-05-2025</a:t>
            </a:fld>
            <a:endParaRPr lang="en-IN" dirty="0"/>
          </a:p>
        </p:txBody>
      </p:sp>
      <p:sp>
        <p:nvSpPr>
          <p:cNvPr id="6" name="Footer Placeholder 5"/>
          <p:cNvSpPr>
            <a:spLocks noGrp="1"/>
          </p:cNvSpPr>
          <p:nvPr>
            <p:ph type="ftr" sz="quarter" idx="11"/>
          </p:nvPr>
        </p:nvSpPr>
        <p:spPr/>
        <p:txBody>
          <a:bodyPr/>
          <a:lstStyle/>
          <a:p>
            <a:r>
              <a:rPr lang="en-US" dirty="0"/>
              <a:t>DAYANANDA SAGAR COLLEGE OF ENGINEERING</a:t>
            </a:r>
            <a:endParaRPr lang="en-IN" dirty="0"/>
          </a:p>
        </p:txBody>
      </p:sp>
      <p:sp>
        <p:nvSpPr>
          <p:cNvPr id="7" name="Slide Number Placeholder 6"/>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147909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34BEAC2-5A7C-4632-951E-E6E0AAC4BDA4}" type="datetime1">
              <a:rPr lang="en-IN" smtClean="0"/>
              <a:t>30-05-2025</a:t>
            </a:fld>
            <a:endParaRPr lang="en-IN" dirty="0"/>
          </a:p>
        </p:txBody>
      </p:sp>
      <p:sp>
        <p:nvSpPr>
          <p:cNvPr id="6" name="Footer Placeholder 5"/>
          <p:cNvSpPr>
            <a:spLocks noGrp="1"/>
          </p:cNvSpPr>
          <p:nvPr>
            <p:ph type="ftr" sz="quarter" idx="11"/>
          </p:nvPr>
        </p:nvSpPr>
        <p:spPr/>
        <p:txBody>
          <a:bodyPr/>
          <a:lstStyle/>
          <a:p>
            <a:r>
              <a:rPr lang="en-US" dirty="0"/>
              <a:t>DAYANANDA SAGAR COLLEGE OF ENGINEERING</a:t>
            </a:r>
            <a:endParaRPr lang="en-IN" dirty="0"/>
          </a:p>
        </p:txBody>
      </p:sp>
      <p:sp>
        <p:nvSpPr>
          <p:cNvPr id="7" name="Slide Number Placeholder 6"/>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549714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E1C159-43C5-4E18-BEAE-0B9D8CEC796B}" type="datetime1">
              <a:rPr lang="en-IN" smtClean="0"/>
              <a:t>30-05-2025</a:t>
            </a:fld>
            <a:endParaRPr lang="en-IN" dirty="0"/>
          </a:p>
        </p:txBody>
      </p:sp>
      <p:sp>
        <p:nvSpPr>
          <p:cNvPr id="5" name="Footer Placeholder 4"/>
          <p:cNvSpPr>
            <a:spLocks noGrp="1"/>
          </p:cNvSpPr>
          <p:nvPr>
            <p:ph type="ftr" sz="quarter" idx="11"/>
          </p:nvPr>
        </p:nvSpPr>
        <p:spPr/>
        <p:txBody>
          <a:bodyPr/>
          <a:lstStyle/>
          <a:p>
            <a:r>
              <a:rPr lang="en-US" dirty="0"/>
              <a:t>DAYANANDA SAGAR COLLEGE OF ENGINEERING</a:t>
            </a:r>
            <a:endParaRPr lang="en-IN" dirty="0"/>
          </a:p>
        </p:txBody>
      </p:sp>
      <p:sp>
        <p:nvSpPr>
          <p:cNvPr id="6" name="Slide Number Placeholder 5"/>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188935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BABD9A3-C35A-4A40-82EE-FDDACBF254AC}" type="datetime1">
              <a:rPr lang="en-IN" smtClean="0"/>
              <a:t>30-05-2025</a:t>
            </a:fld>
            <a:endParaRPr lang="en-IN" dirty="0"/>
          </a:p>
        </p:txBody>
      </p:sp>
      <p:sp>
        <p:nvSpPr>
          <p:cNvPr id="5" name="Footer Placeholder 4"/>
          <p:cNvSpPr>
            <a:spLocks noGrp="1"/>
          </p:cNvSpPr>
          <p:nvPr>
            <p:ph type="ftr" sz="quarter" idx="11"/>
          </p:nvPr>
        </p:nvSpPr>
        <p:spPr/>
        <p:txBody>
          <a:bodyPr/>
          <a:lstStyle/>
          <a:p>
            <a:r>
              <a:rPr lang="en-US" dirty="0"/>
              <a:t>DAYANANDA SAGAR COLLEGE OF ENGINEERING</a:t>
            </a:r>
            <a:endParaRPr lang="en-IN" dirty="0"/>
          </a:p>
        </p:txBody>
      </p:sp>
      <p:sp>
        <p:nvSpPr>
          <p:cNvPr id="6" name="Slide Number Placeholder 5"/>
          <p:cNvSpPr>
            <a:spLocks noGrp="1"/>
          </p:cNvSpPr>
          <p:nvPr>
            <p:ph type="sldNum" sz="quarter" idx="12"/>
          </p:nvPr>
        </p:nvSpPr>
        <p:spPr/>
        <p:txBody>
          <a:bodyPr/>
          <a:lstStyle/>
          <a:p>
            <a:fld id="{46A87611-411F-4010-8D8B-06BA0FB9B814}" type="slidenum">
              <a:rPr lang="en-IN" smtClean="0"/>
              <a:t>‹#›</a:t>
            </a:fld>
            <a:endParaRPr lang="en-IN" dirty="0"/>
          </a:p>
        </p:txBody>
      </p:sp>
    </p:spTree>
    <p:extLst>
      <p:ext uri="{BB962C8B-B14F-4D97-AF65-F5344CB8AC3E}">
        <p14:creationId xmlns:p14="http://schemas.microsoft.com/office/powerpoint/2010/main" val="3241811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0F9BBD-8C9D-400D-9A8D-E5AC21BF6231}" type="datetime1">
              <a:rPr lang="en-IN" smtClean="0"/>
              <a:t>30-05-2025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DAYANANDA SAGAR COLLEGE OF ENGINEERING</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A87611-411F-4010-8D8B-06BA0FB9B814}" type="slidenum">
              <a:rPr lang="en-IN" smtClean="0"/>
              <a:t>‹#›</a:t>
            </a:fld>
            <a:endParaRPr lang="en-IN" dirty="0"/>
          </a:p>
        </p:txBody>
      </p:sp>
    </p:spTree>
    <p:extLst>
      <p:ext uri="{BB962C8B-B14F-4D97-AF65-F5344CB8AC3E}">
        <p14:creationId xmlns:p14="http://schemas.microsoft.com/office/powerpoint/2010/main" val="726332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479190" y="92407"/>
            <a:ext cx="5582920" cy="584775"/>
          </a:xfrm>
          <a:prstGeom prst="rect">
            <a:avLst/>
          </a:prstGeom>
        </p:spPr>
        <p:txBody>
          <a:bodyPr wrap="square">
            <a:spAutoFit/>
          </a:bodyPr>
          <a:lstStyle/>
          <a:p>
            <a:pPr algn="ctr"/>
            <a:r>
              <a:rPr lang="en-SG" sz="3200" b="1" dirty="0">
                <a:solidFill>
                  <a:srgbClr val="FFFF00"/>
                </a:solidFill>
                <a:latin typeface="Times New Roman" panose="02020603050405020304" pitchFamily="18" charset="0"/>
                <a:cs typeface="Times New Roman" panose="02020603050405020304" pitchFamily="18" charset="0"/>
              </a:rPr>
              <a:t>Flag hoisting using IoT</a:t>
            </a:r>
            <a:endParaRPr lang="en-IN" sz="3200" b="1" dirty="0">
              <a:solidFill>
                <a:srgbClr val="FFFF00"/>
              </a:solidFill>
            </a:endParaRPr>
          </a:p>
        </p:txBody>
      </p:sp>
      <p:sp>
        <p:nvSpPr>
          <p:cNvPr id="5" name="Rectangle 4"/>
          <p:cNvSpPr/>
          <p:nvPr/>
        </p:nvSpPr>
        <p:spPr>
          <a:xfrm>
            <a:off x="616974" y="1031918"/>
            <a:ext cx="10736826" cy="5887637"/>
          </a:xfrm>
          <a:prstGeom prst="rect">
            <a:avLst/>
          </a:prstGeom>
        </p:spPr>
        <p:txBody>
          <a:bodyPr wrap="square">
            <a:spAutoFit/>
          </a:bodyPr>
          <a:lstStyle/>
          <a:p>
            <a:pPr algn="ctr"/>
            <a:endParaRPr lang="en-IN" sz="1400" b="1" dirty="0">
              <a:solidFill>
                <a:srgbClr val="E65C01"/>
              </a:solidFill>
              <a:latin typeface="Times New Roman"/>
              <a:ea typeface="Times New Roman"/>
              <a:cs typeface="Times New Roman"/>
              <a:sym typeface="Times New Roman"/>
            </a:endParaRPr>
          </a:p>
          <a:p>
            <a:pPr algn="ctr"/>
            <a:r>
              <a:rPr lang="en-IN" sz="1400" b="1" dirty="0">
                <a:solidFill>
                  <a:srgbClr val="E65C01"/>
                </a:solidFill>
                <a:latin typeface="Times New Roman" pitchFamily="18" charset="0"/>
                <a:ea typeface="Times New Roman"/>
                <a:cs typeface="Times New Roman" pitchFamily="18" charset="0"/>
                <a:sym typeface="Times New Roman"/>
              </a:rPr>
              <a:t>MINI PROJECT PHASE-1 PRESENTATION</a:t>
            </a:r>
          </a:p>
          <a:p>
            <a:pPr algn="ctr"/>
            <a:r>
              <a:rPr lang="en-IN" sz="1400" b="1" dirty="0">
                <a:solidFill>
                  <a:srgbClr val="E65C01"/>
                </a:solidFill>
                <a:latin typeface="Times New Roman" pitchFamily="18" charset="0"/>
                <a:ea typeface="Times New Roman"/>
                <a:cs typeface="Times New Roman" pitchFamily="18" charset="0"/>
                <a:sym typeface="Times New Roman"/>
              </a:rPr>
              <a:t>by</a:t>
            </a:r>
          </a:p>
          <a:p>
            <a:pPr algn="ctr"/>
            <a:endParaRPr lang="en-IN" sz="1400" b="1" dirty="0">
              <a:solidFill>
                <a:srgbClr val="E65C01"/>
              </a:solidFill>
              <a:latin typeface="Times New Roman" pitchFamily="18" charset="0"/>
              <a:ea typeface="Times New Roman"/>
              <a:cs typeface="Times New Roman" pitchFamily="18" charset="0"/>
              <a:sym typeface="Times New Roman"/>
            </a:endParaRPr>
          </a:p>
          <a:p>
            <a:pPr algn="ctr"/>
            <a:r>
              <a:rPr lang="en-IN" b="1" dirty="0">
                <a:solidFill>
                  <a:schemeClr val="accent1"/>
                </a:solidFill>
                <a:latin typeface="Times New Roman" panose="02020603050405020304" pitchFamily="18" charset="0"/>
                <a:ea typeface="Century Schoolbook"/>
                <a:cs typeface="Times New Roman" panose="02020603050405020304" pitchFamily="18" charset="0"/>
                <a:sym typeface="Century Schoolbook"/>
              </a:rPr>
              <a:t>Raja Babu Ray</a:t>
            </a:r>
            <a:r>
              <a:rPr lang="en-US" b="1" dirty="0">
                <a:solidFill>
                  <a:schemeClr val="accent1"/>
                </a:solidFill>
                <a:latin typeface="Times New Roman" pitchFamily="18" charset="0"/>
                <a:ea typeface="Century Schoolbook"/>
                <a:cs typeface="Times New Roman" pitchFamily="18" charset="0"/>
                <a:sym typeface="Century Schoolbook"/>
              </a:rPr>
              <a:t>                       1DS23EE074</a:t>
            </a:r>
            <a:endParaRPr lang="en-US" b="1" dirty="0">
              <a:solidFill>
                <a:srgbClr val="002060"/>
              </a:solidFill>
              <a:latin typeface="Times New Roman" pitchFamily="18" charset="0"/>
              <a:ea typeface="Century Schoolbook"/>
              <a:cs typeface="Times New Roman" pitchFamily="18" charset="0"/>
              <a:sym typeface="Century Schoolbook"/>
            </a:endParaRPr>
          </a:p>
          <a:p>
            <a:pPr algn="ctr"/>
            <a:r>
              <a:rPr lang="en-US" b="1" dirty="0">
                <a:solidFill>
                  <a:schemeClr val="accent1"/>
                </a:solidFill>
                <a:latin typeface="Times New Roman" pitchFamily="18" charset="0"/>
                <a:ea typeface="Century Schoolbook"/>
                <a:cs typeface="Times New Roman" pitchFamily="18" charset="0"/>
                <a:sym typeface="Century Schoolbook"/>
              </a:rPr>
              <a:t>Siddeshwar.M.S                     1DS23EE100</a:t>
            </a:r>
          </a:p>
          <a:p>
            <a:pPr algn="ctr"/>
            <a:r>
              <a:rPr lang="en-IN" b="1" dirty="0">
                <a:solidFill>
                  <a:schemeClr val="accent1"/>
                </a:solidFill>
                <a:latin typeface="Times New Roman" pitchFamily="18" charset="0"/>
                <a:ea typeface="Century Schoolbook"/>
                <a:cs typeface="Times New Roman" pitchFamily="18" charset="0"/>
                <a:sym typeface="Century Schoolbook"/>
              </a:rPr>
              <a:t>Vardhan.M                             1DS23EE117</a:t>
            </a:r>
          </a:p>
          <a:p>
            <a:pPr algn="ctr"/>
            <a:r>
              <a:rPr lang="en-IN" b="1" dirty="0" err="1">
                <a:solidFill>
                  <a:schemeClr val="accent1"/>
                </a:solidFill>
                <a:effectLst/>
                <a:latin typeface="Times New Roman" pitchFamily="18" charset="0"/>
                <a:ea typeface="Calibri" panose="020F0502020204030204" pitchFamily="34" charset="0"/>
                <a:cs typeface="Times New Roman" pitchFamily="18" charset="0"/>
                <a:sym typeface="Century Schoolbook"/>
              </a:rPr>
              <a:t>Pradyumna.G.N</a:t>
            </a:r>
            <a:r>
              <a:rPr lang="en-IN" b="1" dirty="0">
                <a:solidFill>
                  <a:schemeClr val="accent1"/>
                </a:solidFill>
                <a:effectLst/>
                <a:latin typeface="Times New Roman" pitchFamily="18" charset="0"/>
                <a:ea typeface="Calibri" panose="020F0502020204030204" pitchFamily="34" charset="0"/>
                <a:cs typeface="Times New Roman" pitchFamily="18" charset="0"/>
                <a:sym typeface="Century Schoolbook"/>
              </a:rPr>
              <a:t>                    1DS23EE408</a:t>
            </a:r>
            <a:endParaRPr lang="en-IN" b="1" dirty="0">
              <a:solidFill>
                <a:schemeClr val="accent1"/>
              </a:solidFill>
              <a:latin typeface="Times New Roman" pitchFamily="18" charset="0"/>
              <a:ea typeface="Century Schoolbook"/>
              <a:cs typeface="Times New Roman" pitchFamily="18" charset="0"/>
              <a:sym typeface="Century Schoolbook"/>
            </a:endParaRPr>
          </a:p>
          <a:p>
            <a:pPr algn="ctr"/>
            <a:endParaRPr lang="en-US" b="1" dirty="0">
              <a:solidFill>
                <a:schemeClr val="dk1"/>
              </a:solidFill>
              <a:latin typeface="Times New Roman" pitchFamily="18" charset="0"/>
              <a:ea typeface="Century Schoolbook"/>
              <a:cs typeface="Times New Roman" pitchFamily="18" charset="0"/>
              <a:sym typeface="Century Schoolbook"/>
            </a:endParaRPr>
          </a:p>
          <a:p>
            <a:pPr algn="ctr"/>
            <a:endParaRPr lang="en-US" b="1" dirty="0">
              <a:solidFill>
                <a:schemeClr val="dk1"/>
              </a:solidFill>
              <a:latin typeface="Times New Roman" pitchFamily="18" charset="0"/>
              <a:ea typeface="Century Schoolbook"/>
              <a:cs typeface="Times New Roman" pitchFamily="18" charset="0"/>
              <a:sym typeface="Century Schoolbook"/>
            </a:endParaRPr>
          </a:p>
          <a:p>
            <a:pPr algn="ctr"/>
            <a:r>
              <a:rPr lang="en-US" b="1" dirty="0">
                <a:solidFill>
                  <a:schemeClr val="dk1"/>
                </a:solidFill>
                <a:latin typeface="Times New Roman" pitchFamily="18" charset="0"/>
                <a:ea typeface="Century Schoolbook"/>
                <a:cs typeface="Times New Roman" pitchFamily="18" charset="0"/>
                <a:sym typeface="Century Schoolbook"/>
              </a:rPr>
              <a:t>Department of Electrical and Electronics Engineering</a:t>
            </a:r>
            <a:endParaRPr lang="en-US" dirty="0">
              <a:latin typeface="Times New Roman" pitchFamily="18" charset="0"/>
              <a:cs typeface="Times New Roman" pitchFamily="18" charset="0"/>
            </a:endParaRPr>
          </a:p>
          <a:p>
            <a:pPr algn="ctr"/>
            <a:endParaRPr lang="en-IN" sz="600" b="1" dirty="0">
              <a:solidFill>
                <a:schemeClr val="dk1"/>
              </a:solidFill>
              <a:latin typeface="Times New Roman" pitchFamily="18" charset="0"/>
              <a:ea typeface="Century Schoolbook"/>
              <a:cs typeface="Times New Roman" pitchFamily="18" charset="0"/>
              <a:sym typeface="Century Schoolbook"/>
            </a:endParaRPr>
          </a:p>
          <a:p>
            <a:pPr indent="-6350" algn="ctr">
              <a:lnSpc>
                <a:spcPct val="107000"/>
              </a:lnSpc>
              <a:spcAft>
                <a:spcPts val="800"/>
              </a:spcAft>
              <a:buNone/>
            </a:pPr>
            <a:r>
              <a:rPr lang="en-US" sz="1800" b="1" i="1" dirty="0">
                <a:solidFill>
                  <a:srgbClr val="000000"/>
                </a:solidFill>
                <a:effectLst/>
                <a:latin typeface="Times New Roman" panose="02020603050405020304" pitchFamily="18" charset="0"/>
                <a:ea typeface="Calibri" panose="020F0502020204030204" pitchFamily="34" charset="0"/>
              </a:rPr>
              <a:t>Under the Guidance of</a:t>
            </a:r>
            <a:endParaRPr lang="en-IN" sz="1800" dirty="0">
              <a:solidFill>
                <a:srgbClr val="000000"/>
              </a:solidFill>
              <a:effectLst/>
              <a:latin typeface="Calibri" panose="020F0502020204030204" pitchFamily="34" charset="0"/>
              <a:ea typeface="Calibri" panose="020F0502020204030204" pitchFamily="34" charset="0"/>
            </a:endParaRPr>
          </a:p>
          <a:p>
            <a:pPr indent="-6350" algn="ctr">
              <a:spcAft>
                <a:spcPts val="800"/>
              </a:spcAft>
              <a:buNone/>
            </a:pPr>
            <a:r>
              <a:rPr lang="en-US" sz="1600" dirty="0">
                <a:solidFill>
                  <a:srgbClr val="000000"/>
                </a:solidFill>
                <a:effectLst/>
                <a:latin typeface="Times New Roman" panose="02020603050405020304" pitchFamily="18" charset="0"/>
                <a:ea typeface="Calibri" panose="020F0502020204030204" pitchFamily="34" charset="0"/>
              </a:rPr>
              <a:t>Dr. Soni M</a:t>
            </a:r>
            <a:endParaRPr lang="en-IN" sz="1600" dirty="0">
              <a:solidFill>
                <a:srgbClr val="000000"/>
              </a:solidFill>
              <a:effectLst/>
              <a:latin typeface="Calibri" panose="020F0502020204030204" pitchFamily="34" charset="0"/>
              <a:ea typeface="Calibri" panose="020F0502020204030204" pitchFamily="34" charset="0"/>
            </a:endParaRPr>
          </a:p>
          <a:p>
            <a:pPr indent="-6350" algn="ctr">
              <a:spcAft>
                <a:spcPts val="800"/>
              </a:spcAft>
              <a:buNone/>
            </a:pPr>
            <a:r>
              <a:rPr lang="en-US" sz="1600" dirty="0">
                <a:solidFill>
                  <a:srgbClr val="000000"/>
                </a:solidFill>
                <a:effectLst/>
                <a:latin typeface="Times New Roman" panose="02020603050405020304" pitchFamily="18" charset="0"/>
                <a:ea typeface="Calibri" panose="020F0502020204030204" pitchFamily="34" charset="0"/>
              </a:rPr>
              <a:t>Assistant professor</a:t>
            </a:r>
            <a:endParaRPr lang="en-IN" sz="1600" dirty="0">
              <a:solidFill>
                <a:srgbClr val="000000"/>
              </a:solidFill>
              <a:effectLst/>
              <a:latin typeface="Calibri" panose="020F0502020204030204" pitchFamily="34" charset="0"/>
              <a:ea typeface="Calibri" panose="020F0502020204030204" pitchFamily="34" charset="0"/>
            </a:endParaRPr>
          </a:p>
          <a:p>
            <a:pPr indent="-6350" algn="ctr">
              <a:spcAft>
                <a:spcPts val="800"/>
              </a:spcAft>
              <a:buNone/>
            </a:pPr>
            <a:r>
              <a:rPr lang="en-US" sz="1600" dirty="0">
                <a:solidFill>
                  <a:srgbClr val="000000"/>
                </a:solidFill>
                <a:effectLst/>
                <a:latin typeface="Times New Roman" panose="02020603050405020304" pitchFamily="18" charset="0"/>
                <a:ea typeface="Calibri" panose="020F0502020204030204" pitchFamily="34" charset="0"/>
              </a:rPr>
              <a:t>Dept. of  E&amp;E Engg.</a:t>
            </a:r>
            <a:endParaRPr lang="en-IN" sz="1600" dirty="0">
              <a:solidFill>
                <a:srgbClr val="000000"/>
              </a:solidFill>
              <a:effectLst/>
              <a:latin typeface="Calibri" panose="020F0502020204030204" pitchFamily="34" charset="0"/>
              <a:ea typeface="Calibri" panose="020F0502020204030204" pitchFamily="34" charset="0"/>
            </a:endParaRPr>
          </a:p>
          <a:p>
            <a:pPr indent="-6350" algn="ctr">
              <a:spcAft>
                <a:spcPts val="800"/>
              </a:spcAft>
            </a:pPr>
            <a:r>
              <a:rPr lang="en-US" sz="1600" dirty="0">
                <a:solidFill>
                  <a:srgbClr val="000000"/>
                </a:solidFill>
                <a:effectLst/>
                <a:latin typeface="Times New Roman" panose="02020603050405020304" pitchFamily="18" charset="0"/>
                <a:ea typeface="Calibri" panose="020F0502020204030204" pitchFamily="34" charset="0"/>
              </a:rPr>
              <a:t>DSCE, Bengaluru</a:t>
            </a:r>
            <a:endParaRPr lang="en-IN" sz="1600" dirty="0">
              <a:solidFill>
                <a:srgbClr val="000000"/>
              </a:solidFill>
              <a:effectLst/>
              <a:latin typeface="Calibri" panose="020F0502020204030204" pitchFamily="34" charset="0"/>
              <a:ea typeface="Calibri" panose="020F0502020204030204" pitchFamily="34" charset="0"/>
            </a:endParaRPr>
          </a:p>
          <a:p>
            <a:pPr algn="ctr"/>
            <a:endParaRPr lang="en-US" b="1" dirty="0">
              <a:solidFill>
                <a:schemeClr val="dk1"/>
              </a:solidFill>
              <a:latin typeface="Times New Roman" pitchFamily="18" charset="0"/>
              <a:ea typeface="Century Schoolbook"/>
              <a:cs typeface="Times New Roman" pitchFamily="18" charset="0"/>
              <a:sym typeface="Century Schoolbook"/>
            </a:endParaRPr>
          </a:p>
          <a:p>
            <a:pPr algn="ctr"/>
            <a:endParaRPr lang="en-US" b="1" dirty="0">
              <a:solidFill>
                <a:schemeClr val="dk1"/>
              </a:solidFill>
              <a:latin typeface="Times New Roman" pitchFamily="18" charset="0"/>
              <a:ea typeface="Century Schoolbook"/>
              <a:cs typeface="Times New Roman" pitchFamily="18" charset="0"/>
              <a:sym typeface="Century Schoolbook"/>
            </a:endParaRPr>
          </a:p>
          <a:p>
            <a:pPr algn="ctr"/>
            <a:endParaRPr lang="en-IN" b="1" dirty="0">
              <a:solidFill>
                <a:schemeClr val="dk1"/>
              </a:solidFill>
              <a:latin typeface="Times New Roman" pitchFamily="18" charset="0"/>
              <a:ea typeface="Century Schoolbook"/>
              <a:cs typeface="Times New Roman" pitchFamily="18" charset="0"/>
              <a:sym typeface="Century Schoolbook"/>
            </a:endParaRPr>
          </a:p>
          <a:p>
            <a:pPr algn="ctr"/>
            <a:r>
              <a:rPr lang="en-IN" b="1" dirty="0">
                <a:solidFill>
                  <a:schemeClr val="dk1"/>
                </a:solidFill>
                <a:latin typeface="Times New Roman" pitchFamily="18" charset="0"/>
                <a:ea typeface="Century Schoolbook"/>
                <a:cs typeface="Times New Roman" pitchFamily="18" charset="0"/>
                <a:sym typeface="Century Schoolbook"/>
              </a:rPr>
              <a:t>  </a:t>
            </a:r>
            <a:endParaRPr lang="en-IN" b="1" dirty="0">
              <a:solidFill>
                <a:srgbClr val="00B0F0"/>
              </a:solidFill>
              <a:latin typeface="Times New Roman" pitchFamily="18" charset="0"/>
              <a:ea typeface="Century Schoolbook"/>
              <a:cs typeface="Times New Roman" pitchFamily="18" charset="0"/>
              <a:sym typeface="Century Schoolbook"/>
            </a:endParaRPr>
          </a:p>
        </p:txBody>
      </p:sp>
    </p:spTree>
    <p:extLst>
      <p:ext uri="{BB962C8B-B14F-4D97-AF65-F5344CB8AC3E}">
        <p14:creationId xmlns:p14="http://schemas.microsoft.com/office/powerpoint/2010/main" val="169779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IN" sz="4000" dirty="0">
                <a:solidFill>
                  <a:srgbClr val="FFFF00"/>
                </a:solidFill>
                <a:latin typeface="Times New Roman" pitchFamily="18" charset="0"/>
                <a:cs typeface="Times New Roman" pitchFamily="18" charset="0"/>
              </a:rPr>
              <a:t>Introduction/ Project overview</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2</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353961" y="934065"/>
            <a:ext cx="11513574" cy="55429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concept of IoT-based flag hoisting emerges from the growing trend of automation and smart systems in public and institutional infrastructure. Traditionally, flag hoisting is a manual process carried out during ceremonies or daily routines in schools, government buildings, and military establishments. However, with the advancement of the Internet of Things (IoT), there is a push towards automating routine tasks to improve efficiency, reduce human effort, and enhance precision. IoT enables remote control, real-time monitoring, and scheduling through connected devices, making it ideal for applications like flag hoisting where timing and coordination are critical. The integration of sensors, microcontrollers, and wireless communication allows for safe, programmable, and user-friendly systems. This approach aligns with the broader movement towards smart governance and digital infrastructure, offering a modern solution to a traditional practice.</a:t>
            </a:r>
          </a:p>
          <a:p>
            <a:pPr algn="just"/>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Importance </a:t>
            </a:r>
          </a:p>
          <a:p>
            <a:pPr algn="just"/>
            <a:r>
              <a:rPr lang="en-US" sz="2000" dirty="0">
                <a:latin typeface="Times New Roman" pitchFamily="18" charset="0"/>
                <a:cs typeface="Times New Roman" pitchFamily="18" charset="0"/>
              </a:rPr>
              <a:t>The IoT-based flag hoisting system is important as it automates a traditional task, ensuring timely, safe, and efficient operation. It reduces manual effort, allows remote control, and enhances reliability through real-time monitoring making it ideal for smart institutions and modern infrastructure.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786907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IN" sz="4000" dirty="0">
                <a:solidFill>
                  <a:srgbClr val="FFFF00"/>
                </a:solidFill>
                <a:latin typeface="Times New Roman" pitchFamily="18" charset="0"/>
                <a:cs typeface="Times New Roman" pitchFamily="18" charset="0"/>
              </a:rPr>
              <a:t>Literature Review and Gap</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3</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9D1E9880-515C-19D7-306B-D615027B8843}"/>
              </a:ext>
            </a:extLst>
          </p:cNvPr>
          <p:cNvSpPr txBox="1">
            <a:spLocks/>
          </p:cNvSpPr>
          <p:nvPr/>
        </p:nvSpPr>
        <p:spPr>
          <a:xfrm>
            <a:off x="275303" y="963561"/>
            <a:ext cx="11710220" cy="5513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6902C15F-4DD8-7988-399F-0CEB2C864A14}"/>
              </a:ext>
            </a:extLst>
          </p:cNvPr>
          <p:cNvSpPr txBox="1"/>
          <p:nvPr/>
        </p:nvSpPr>
        <p:spPr>
          <a:xfrm>
            <a:off x="206477" y="1011451"/>
            <a:ext cx="11933904" cy="5293757"/>
          </a:xfrm>
          <a:prstGeom prst="rect">
            <a:avLst/>
          </a:prstGeom>
          <a:noFill/>
        </p:spPr>
        <p:txBody>
          <a:bodyPr wrap="square" rtlCol="0">
            <a:spAutoFit/>
          </a:bodyPr>
          <a:lstStyle/>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[1]. G. Kaur, A. Saini (2020) - “IoT Based Smart Home Automation System”</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This paper outlines how IoT can be used to remotely control home appliances using Wi-Fi-enabled microcontrollers. The use of Node MCU, sensors, and relay modules for real-time control demonstrates the feasibility of applying similar architecture for flag hoisting.</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Scientific &amp; Engineering Research, Vol. 11, Issue 6)</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[2]. P. S. Kulkarni, A. B. Deshmukh (2019) - “IoT Based Automatic Gate Control System”</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This work discusses the use of servo motors and limit switches to control gate operations through an IoT interface. The safety and accuracy techniques used are directly applicable to motorized flag hoisting systems.</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(International Research Journal of Engineering and Technology, Vol. 6, Issue 4)</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[3]. M. A. Khan, S. S. Rizvi (2018) - “Design and Implementation of an IoT Based Smart Irrigation System”</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Their system uses sensors and microcontrollers to automate and schedule irrigation. The integration of RTC and automation logic mirrors the approach required for timed flag hoisting.</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US" sz="2000" dirty="0">
                <a:solidFill>
                  <a:srgbClr val="0F243E"/>
                </a:solidFill>
                <a:effectLst/>
                <a:latin typeface="Times New Roman" panose="02020603050405020304" pitchFamily="18" charset="0"/>
                <a:ea typeface="Calibri" panose="020F0502020204030204" pitchFamily="34" charset="0"/>
                <a:cs typeface="Times New Roman" panose="02020603050405020304" pitchFamily="18" charset="0"/>
              </a:rPr>
              <a:t>(IEEE International Conference on Advances in Computing and Communication Engineering)</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75220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48D7972-0420-7C9B-282D-AAEBF85386D0}"/>
              </a:ext>
            </a:extLst>
          </p:cNvPr>
          <p:cNvSpPr>
            <a:spLocks noGrp="1"/>
          </p:cNvSpPr>
          <p:nvPr>
            <p:ph type="ftr" sz="quarter" idx="11"/>
          </p:nvPr>
        </p:nvSpPr>
        <p:spPr/>
        <p:txBody>
          <a:bodyPr/>
          <a:lstStyle/>
          <a:p>
            <a:r>
              <a:rPr lang="en-US" dirty="0"/>
              <a:t>DAYANANDA SAGAR COLLEGE OF ENGINEERING</a:t>
            </a:r>
            <a:endParaRPr lang="en-IN" dirty="0"/>
          </a:p>
        </p:txBody>
      </p:sp>
      <p:sp>
        <p:nvSpPr>
          <p:cNvPr id="3" name="Slide Number Placeholder 2">
            <a:extLst>
              <a:ext uri="{FF2B5EF4-FFF2-40B4-BE49-F238E27FC236}">
                <a16:creationId xmlns:a16="http://schemas.microsoft.com/office/drawing/2014/main" id="{B949F9B8-4869-6B95-B50D-D9D6801849F1}"/>
              </a:ext>
            </a:extLst>
          </p:cNvPr>
          <p:cNvSpPr>
            <a:spLocks noGrp="1"/>
          </p:cNvSpPr>
          <p:nvPr>
            <p:ph type="sldNum" sz="quarter" idx="12"/>
          </p:nvPr>
        </p:nvSpPr>
        <p:spPr/>
        <p:txBody>
          <a:bodyPr/>
          <a:lstStyle/>
          <a:p>
            <a:fld id="{46A87611-411F-4010-8D8B-06BA0FB9B814}" type="slidenum">
              <a:rPr lang="en-IN" smtClean="0"/>
              <a:t>4</a:t>
            </a:fld>
            <a:endParaRPr lang="en-IN" dirty="0"/>
          </a:p>
        </p:txBody>
      </p:sp>
      <p:sp>
        <p:nvSpPr>
          <p:cNvPr id="5" name="TextBox 4">
            <a:extLst>
              <a:ext uri="{FF2B5EF4-FFF2-40B4-BE49-F238E27FC236}">
                <a16:creationId xmlns:a16="http://schemas.microsoft.com/office/drawing/2014/main" id="{4FF37D76-9FD7-B6E8-0B7E-58561D1ACBEA}"/>
              </a:ext>
            </a:extLst>
          </p:cNvPr>
          <p:cNvSpPr txBox="1"/>
          <p:nvPr/>
        </p:nvSpPr>
        <p:spPr>
          <a:xfrm>
            <a:off x="363793" y="1490008"/>
            <a:ext cx="11552904" cy="1938992"/>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Flag hoisting is traditionally a manual process, often prone to human error, delays, and non-compliance with official protocols. The integration of IoT can automate this task by using sensors, timers, and remote controls to ensure timely and precise flag hoisting and lowering. It allows real-time monitoring, reduces dependence on manual labor, and ensures adherence to flag codes. The gap lies in the lack of automation, monitoring, and smart control in current systems, which IoT can effectively bridge by offering reliable, efficient, and remote-controlled solutions.</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35409C8-D6A2-3729-A243-E1F6D3B5115D}"/>
              </a:ext>
            </a:extLst>
          </p:cNvPr>
          <p:cNvSpPr txBox="1"/>
          <p:nvPr/>
        </p:nvSpPr>
        <p:spPr>
          <a:xfrm>
            <a:off x="5007077" y="136525"/>
            <a:ext cx="4975123" cy="523220"/>
          </a:xfrm>
          <a:prstGeom prst="rect">
            <a:avLst/>
          </a:prstGeom>
          <a:noFill/>
        </p:spPr>
        <p:txBody>
          <a:bodyPr wrap="square" rtlCol="0">
            <a:spAutoFit/>
          </a:bodyPr>
          <a:lstStyle/>
          <a:p>
            <a:r>
              <a:rPr lang="en-IN" sz="2800" dirty="0">
                <a:solidFill>
                  <a:srgbClr val="FFFF00"/>
                </a:solidFill>
                <a:latin typeface="Times New Roman" panose="02020603050405020304" pitchFamily="18" charset="0"/>
                <a:cs typeface="Times New Roman" panose="02020603050405020304" pitchFamily="18" charset="0"/>
              </a:rPr>
              <a:t>Gap Analysis</a:t>
            </a:r>
          </a:p>
        </p:txBody>
      </p:sp>
    </p:spTree>
    <p:extLst>
      <p:ext uri="{BB962C8B-B14F-4D97-AF65-F5344CB8AC3E}">
        <p14:creationId xmlns:p14="http://schemas.microsoft.com/office/powerpoint/2010/main" val="398298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IN" sz="4000" dirty="0">
                <a:solidFill>
                  <a:srgbClr val="FFFF00"/>
                </a:solidFill>
                <a:latin typeface="Times New Roman" pitchFamily="18" charset="0"/>
                <a:cs typeface="Times New Roman" pitchFamily="18" charset="0"/>
              </a:rPr>
              <a:t>Objectives</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5</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A6071ED-60AE-AC29-2683-96B7ACEC1B2D}"/>
              </a:ext>
            </a:extLst>
          </p:cNvPr>
          <p:cNvSpPr txBox="1">
            <a:spLocks/>
          </p:cNvSpPr>
          <p:nvPr/>
        </p:nvSpPr>
        <p:spPr>
          <a:xfrm>
            <a:off x="152400" y="963691"/>
            <a:ext cx="11887200" cy="562159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IN" sz="2200" dirty="0">
              <a:latin typeface="Times New Roman" pitchFamily="18" charset="0"/>
              <a:cs typeface="Times New Roman" pitchFamily="18" charset="0"/>
            </a:endParaRPr>
          </a:p>
          <a:p>
            <a:pPr marL="342900" indent="-342900" algn="just">
              <a:buFont typeface="Arial" pitchFamily="34" charset="0"/>
              <a:buChar char="•"/>
            </a:pPr>
            <a:r>
              <a:rPr lang="en-IN" sz="2200" dirty="0">
                <a:latin typeface="Times New Roman" pitchFamily="18" charset="0"/>
                <a:cs typeface="Times New Roman" pitchFamily="18" charset="0"/>
              </a:rPr>
              <a:t>Automatic flag hoisting using IoT</a:t>
            </a:r>
          </a:p>
          <a:p>
            <a:pPr marL="342900" indent="-342900" algn="just">
              <a:buFont typeface="Arial" pitchFamily="34" charset="0"/>
              <a:buChar char="•"/>
            </a:pPr>
            <a:r>
              <a:rPr lang="en-IN" sz="2200" dirty="0">
                <a:latin typeface="Times New Roman" pitchFamily="18" charset="0"/>
                <a:cs typeface="Times New Roman" pitchFamily="18" charset="0"/>
              </a:rPr>
              <a:t>Rain sensor using </a:t>
            </a:r>
          </a:p>
          <a:p>
            <a:pPr marL="342900" indent="-342900" algn="just">
              <a:buFont typeface="Arial" pitchFamily="34" charset="0"/>
              <a:buChar char="•"/>
            </a:pPr>
            <a:r>
              <a:rPr lang="en-US" sz="2000" dirty="0">
                <a:effectLst/>
                <a:latin typeface="Times New Roman" panose="02020603050405020304" pitchFamily="18" charset="0"/>
                <a:ea typeface="Calibri" panose="020F0502020204030204" pitchFamily="34" charset="0"/>
              </a:rPr>
              <a:t>To develop a motorized pulley system for raising and lowering the flag using a microcontroller (e.g., ESP32,)</a:t>
            </a:r>
          </a:p>
          <a:p>
            <a:pPr marL="342900" indent="-342900" algn="just">
              <a:buFont typeface="Arial" pitchFamily="34" charset="0"/>
              <a:buChar char="•"/>
            </a:pPr>
            <a:r>
              <a:rPr lang="en-US" sz="2000" dirty="0">
                <a:effectLst/>
                <a:latin typeface="Times New Roman" panose="02020603050405020304" pitchFamily="18" charset="0"/>
                <a:ea typeface="Calibri" panose="020F0502020204030204" pitchFamily="34" charset="0"/>
              </a:rPr>
              <a:t>To enable remote control and scheduling of the hoisting process through a mobile App using Bluetooth connectivity.</a:t>
            </a:r>
            <a:endParaRPr lang="en-IN" sz="2000" dirty="0">
              <a:effectLst/>
              <a:latin typeface="Calibri" panose="020F0502020204030204" pitchFamily="34" charset="0"/>
              <a:ea typeface="Calibri" panose="020F0502020204030204" pitchFamily="34" charset="0"/>
            </a:endParaRPr>
          </a:p>
          <a:p>
            <a:pPr marL="342900" indent="-342900" algn="just">
              <a:buFont typeface="Arial" pitchFamily="34" charset="0"/>
              <a:buChar char="•"/>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401813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Problem Statement/ Motivation</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6</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609600" y="943897"/>
            <a:ext cx="10972800" cy="5533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endParaRPr lang="en-US" sz="2000" dirty="0">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flag hoisting using IoT project addresses several key problems with the traditional flag hoisting process. Primarily, it solves the issue of manual dependency, where a person must be physically present to raise or lower the flag, which can be inconvenient or unsafe, especially on tall poles or during adverse weather conditions. It also addresses the lack of automation, which often leads to missed timings during important events or ceremonies. Furthermore, the project tackles security concerns, ensuring that only authorized individuals can control the hoisting mechanism. In many institutions, there is also a lack of status monitoring, making it difficult to know if the flag was properly hoisted or not. Lastly, the project reduces human error and brings efficiency, precision, and convenience to the flag hoisting process using modern IoT technology</a:t>
            </a:r>
          </a:p>
        </p:txBody>
      </p:sp>
    </p:spTree>
    <p:extLst>
      <p:ext uri="{BB962C8B-B14F-4D97-AF65-F5344CB8AC3E}">
        <p14:creationId xmlns:p14="http://schemas.microsoft.com/office/powerpoint/2010/main" val="3677203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IN" sz="4000" dirty="0">
                <a:solidFill>
                  <a:srgbClr val="FFFF00"/>
                </a:solidFill>
                <a:latin typeface="Times New Roman" pitchFamily="18" charset="0"/>
                <a:cs typeface="Times New Roman" pitchFamily="18" charset="0"/>
              </a:rPr>
              <a:t>Technologies and Tools Used</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7</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F77A2CFC-759E-3064-5198-37F874489FFC}"/>
              </a:ext>
            </a:extLst>
          </p:cNvPr>
          <p:cNvSpPr txBox="1">
            <a:spLocks/>
          </p:cNvSpPr>
          <p:nvPr/>
        </p:nvSpPr>
        <p:spPr>
          <a:xfrm>
            <a:off x="551835" y="1009116"/>
            <a:ext cx="11088329" cy="545622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Ø"/>
            </a:pPr>
            <a:r>
              <a:rPr lang="en-US" b="1" dirty="0">
                <a:latin typeface="Times New Roman" pitchFamily="18" charset="0"/>
                <a:cs typeface="Times New Roman" pitchFamily="18" charset="0"/>
              </a:rPr>
              <a:t>Software</a:t>
            </a:r>
          </a:p>
          <a:p>
            <a:pPr algn="just"/>
            <a:r>
              <a:rPr lang="en-US" sz="2400" dirty="0">
                <a:latin typeface="Times New Roman" pitchFamily="18" charset="0"/>
                <a:cs typeface="Times New Roman" pitchFamily="18" charset="0"/>
              </a:rPr>
              <a:t>For software, we have used Arduino for programming the esp32 dev v1 board which uses similar programming language of C++</a:t>
            </a:r>
          </a:p>
          <a:p>
            <a:pPr algn="just"/>
            <a:r>
              <a:rPr lang="en-US" b="1" dirty="0">
                <a:latin typeface="Times New Roman" pitchFamily="18" charset="0"/>
                <a:cs typeface="Times New Roman" pitchFamily="18" charset="0"/>
              </a:rPr>
              <a:t>  Programming languages</a:t>
            </a:r>
          </a:p>
          <a:p>
            <a:pPr algn="just"/>
            <a:r>
              <a:rPr lang="en-US" sz="2400" dirty="0">
                <a:latin typeface="Times New Roman" pitchFamily="18" charset="0"/>
                <a:cs typeface="Times New Roman" pitchFamily="18" charset="0"/>
              </a:rPr>
              <a:t>We have used </a:t>
            </a:r>
            <a:r>
              <a:rPr lang="en-US" sz="2400" b="0" i="0" dirty="0">
                <a:effectLst/>
                <a:latin typeface="Times New Roman" panose="02020603050405020304" pitchFamily="18" charset="0"/>
                <a:cs typeface="Times New Roman" panose="02020603050405020304" pitchFamily="18" charset="0"/>
              </a:rPr>
              <a:t>variant of the C++ programming language. The code is written in C++ with an addition of special methods and functions. Moreover, when we create a 'sketch' it is processed and compiled to machine language.</a:t>
            </a:r>
            <a:r>
              <a:rPr lang="en-US" sz="2000" b="0" i="0" dirty="0">
                <a:effectLst/>
                <a:latin typeface="Times New Roman" panose="02020603050405020304" pitchFamily="18" charset="0"/>
                <a:cs typeface="Times New Roman" panose="02020603050405020304" pitchFamily="18" charset="0"/>
              </a:rPr>
              <a:t> </a:t>
            </a:r>
            <a:r>
              <a:rPr lang="en-US" sz="2400" b="0" i="0" dirty="0">
                <a:effectLst/>
                <a:latin typeface="Times New Roman" panose="02020603050405020304" pitchFamily="18" charset="0"/>
                <a:cs typeface="Times New Roman" panose="02020603050405020304" pitchFamily="18" charset="0"/>
              </a:rPr>
              <a:t>Additionally, it is commonly used in projects involving robotics, home automation, and Internet of Things (IoT) applications. </a:t>
            </a:r>
          </a:p>
          <a:p>
            <a:pPr marL="342900" indent="-342900" algn="just">
              <a:buFont typeface="Wingdings" panose="05000000000000000000" pitchFamily="2" charset="2"/>
              <a:buChar char="Ø"/>
            </a:pPr>
            <a:r>
              <a:rPr lang="en-US" sz="2400" b="1" dirty="0">
                <a:latin typeface="Times New Roman" panose="02020603050405020304" pitchFamily="18" charset="0"/>
                <a:cs typeface="Times New Roman" pitchFamily="18" charset="0"/>
              </a:rPr>
              <a:t>Hardware</a:t>
            </a:r>
          </a:p>
          <a:p>
            <a:pPr algn="just"/>
            <a:r>
              <a:rPr lang="en-US" sz="2400" dirty="0">
                <a:latin typeface="Times New Roman" panose="02020603050405020304" pitchFamily="18" charset="0"/>
                <a:cs typeface="Times New Roman" pitchFamily="18" charset="0"/>
              </a:rPr>
              <a:t>we have used universal motor which can be used for both AC and DC supplies to make our project convenient and flag pole, flag stand, flag, pullies are used.  </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itchFamily="18" charset="0"/>
            </a:endParaRPr>
          </a:p>
          <a:p>
            <a:pPr marL="342900" indent="-342900" algn="just">
              <a:buFont typeface="Wingdings" panose="05000000000000000000" pitchFamily="2" charset="2"/>
              <a:buChar char="Ø"/>
            </a:pPr>
            <a:r>
              <a:rPr lang="en-US" b="1" dirty="0">
                <a:latin typeface="Times New Roman" pitchFamily="18" charset="0"/>
                <a:cs typeface="Times New Roman" pitchFamily="18" charset="0"/>
              </a:rPr>
              <a:t>Platforms/ Frameworks</a:t>
            </a:r>
          </a:p>
          <a:p>
            <a:pPr algn="just"/>
            <a:r>
              <a:rPr lang="en-US" sz="2400" dirty="0">
                <a:latin typeface="Times New Roman" pitchFamily="18" charset="0"/>
                <a:cs typeface="Times New Roman" pitchFamily="18" charset="0"/>
              </a:rPr>
              <a:t>We</a:t>
            </a:r>
            <a:r>
              <a:rPr lang="en-US" sz="2400"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have used MIT app inventor for building the Bluetooth control app which is used to control the flag.</a:t>
            </a:r>
          </a:p>
          <a:p>
            <a:endParaRPr lang="en-IN" dirty="0"/>
          </a:p>
        </p:txBody>
      </p:sp>
    </p:spTree>
    <p:extLst>
      <p:ext uri="{BB962C8B-B14F-4D97-AF65-F5344CB8AC3E}">
        <p14:creationId xmlns:p14="http://schemas.microsoft.com/office/powerpoint/2010/main" val="4048029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Block Diagram of the project</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8</a:t>
            </a:fld>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C023A21-AC22-4106-D876-A0F6948225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7748" y="1160209"/>
            <a:ext cx="3620729" cy="4719482"/>
          </a:xfrm>
          <a:prstGeom prst="rect">
            <a:avLst/>
          </a:prstGeom>
        </p:spPr>
      </p:pic>
      <p:sp>
        <p:nvSpPr>
          <p:cNvPr id="3" name="TextBox 2">
            <a:extLst>
              <a:ext uri="{FF2B5EF4-FFF2-40B4-BE49-F238E27FC236}">
                <a16:creationId xmlns:a16="http://schemas.microsoft.com/office/drawing/2014/main" id="{6AFA763E-0B7C-E0D1-5C16-810D08CE5811}"/>
              </a:ext>
            </a:extLst>
          </p:cNvPr>
          <p:cNvSpPr txBox="1"/>
          <p:nvPr/>
        </p:nvSpPr>
        <p:spPr>
          <a:xfrm>
            <a:off x="6096000" y="1288029"/>
            <a:ext cx="5555226" cy="4093428"/>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block diagram of IoT-based flag hoisting typically includes the following components: a microcontroller (like ESP32) as the central unit, connected to a motor for raising/lowering the flag, a real-time clock (RTC) or scheduling module to trigger actions at specific times, and sensors (e.g., position or limit switches) to detect flag status. It also includes a Bluetooth or GSM module for remote monitoring and control, and a mobile app or web interface to set schedules or receive alerts. Power supply and safety mechanisms complete the system, ensuring reliable and automated flag operation.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71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System Architecture</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9</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D43DD6A-24FA-7CBB-E6E7-05D4EEB3CE20}"/>
              </a:ext>
            </a:extLst>
          </p:cNvPr>
          <p:cNvSpPr txBox="1">
            <a:spLocks/>
          </p:cNvSpPr>
          <p:nvPr/>
        </p:nvSpPr>
        <p:spPr>
          <a:xfrm>
            <a:off x="381000" y="960938"/>
            <a:ext cx="10972800" cy="52137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b="1" dirty="0">
              <a:latin typeface="Times New Roman" pitchFamily="18" charset="0"/>
              <a:cs typeface="Times New Roman" pitchFamily="18" charset="0"/>
            </a:endParaRPr>
          </a:p>
          <a:p>
            <a:pPr algn="l"/>
            <a:endParaRPr lang="en-US" dirty="0">
              <a:latin typeface="Times New Roman" pitchFamily="18" charset="0"/>
              <a:cs typeface="Times New Roman" pitchFamily="18" charset="0"/>
            </a:endParaRPr>
          </a:p>
          <a:p>
            <a:endParaRPr lang="en-IN" dirty="0"/>
          </a:p>
        </p:txBody>
      </p:sp>
      <p:pic>
        <p:nvPicPr>
          <p:cNvPr id="2" name="Picture 1">
            <a:extLst>
              <a:ext uri="{FF2B5EF4-FFF2-40B4-BE49-F238E27FC236}">
                <a16:creationId xmlns:a16="http://schemas.microsoft.com/office/drawing/2014/main" id="{21B24F25-DCBA-4DFA-E01B-6C1867D922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6088" y="1660392"/>
            <a:ext cx="5227320" cy="3792855"/>
          </a:xfrm>
          <a:prstGeom prst="rect">
            <a:avLst/>
          </a:prstGeom>
        </p:spPr>
      </p:pic>
      <p:pic>
        <p:nvPicPr>
          <p:cNvPr id="6" name="Picture 5">
            <a:extLst>
              <a:ext uri="{FF2B5EF4-FFF2-40B4-BE49-F238E27FC236}">
                <a16:creationId xmlns:a16="http://schemas.microsoft.com/office/drawing/2014/main" id="{F17CCA57-C3F3-7507-D854-289B6BF61292}"/>
              </a:ext>
            </a:extLst>
          </p:cNvPr>
          <p:cNvPicPr>
            <a:picLocks noChangeAspect="1"/>
          </p:cNvPicPr>
          <p:nvPr/>
        </p:nvPicPr>
        <p:blipFill>
          <a:blip r:embed="rId3"/>
          <a:stretch>
            <a:fillRect/>
          </a:stretch>
        </p:blipFill>
        <p:spPr>
          <a:xfrm>
            <a:off x="8416566" y="2338925"/>
            <a:ext cx="2448079" cy="2435787"/>
          </a:xfrm>
          <a:prstGeom prst="rect">
            <a:avLst/>
          </a:prstGeom>
        </p:spPr>
      </p:pic>
    </p:spTree>
    <p:extLst>
      <p:ext uri="{BB962C8B-B14F-4D97-AF65-F5344CB8AC3E}">
        <p14:creationId xmlns:p14="http://schemas.microsoft.com/office/powerpoint/2010/main" val="4204584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Snapshot of final model</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10</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D43DD6A-24FA-7CBB-E6E7-05D4EEB3CE20}"/>
              </a:ext>
            </a:extLst>
          </p:cNvPr>
          <p:cNvSpPr txBox="1">
            <a:spLocks/>
          </p:cNvSpPr>
          <p:nvPr/>
        </p:nvSpPr>
        <p:spPr>
          <a:xfrm>
            <a:off x="609600" y="2357120"/>
            <a:ext cx="10972800" cy="41198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dirty="0"/>
          </a:p>
        </p:txBody>
      </p:sp>
      <p:pic>
        <p:nvPicPr>
          <p:cNvPr id="3" name="Picture 2">
            <a:extLst>
              <a:ext uri="{FF2B5EF4-FFF2-40B4-BE49-F238E27FC236}">
                <a16:creationId xmlns:a16="http://schemas.microsoft.com/office/drawing/2014/main" id="{334E9D14-6256-960C-3E95-84FA97D5E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329" y="955626"/>
            <a:ext cx="7541342" cy="5171768"/>
          </a:xfrm>
          <a:prstGeom prst="rect">
            <a:avLst/>
          </a:prstGeom>
        </p:spPr>
      </p:pic>
      <p:sp>
        <p:nvSpPr>
          <p:cNvPr id="6" name="TextBox 5">
            <a:extLst>
              <a:ext uri="{FF2B5EF4-FFF2-40B4-BE49-F238E27FC236}">
                <a16:creationId xmlns:a16="http://schemas.microsoft.com/office/drawing/2014/main" id="{C73A1A22-9E17-2F32-B128-B1ED0B47B4FB}"/>
              </a:ext>
            </a:extLst>
          </p:cNvPr>
          <p:cNvSpPr txBox="1"/>
          <p:nvPr/>
        </p:nvSpPr>
        <p:spPr>
          <a:xfrm>
            <a:off x="4778477" y="6235679"/>
            <a:ext cx="293001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Fig.1. Prototype of snapshot</a:t>
            </a:r>
          </a:p>
        </p:txBody>
      </p:sp>
    </p:spTree>
    <p:extLst>
      <p:ext uri="{BB962C8B-B14F-4D97-AF65-F5344CB8AC3E}">
        <p14:creationId xmlns:p14="http://schemas.microsoft.com/office/powerpoint/2010/main" val="3123996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Results and Discussion</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11</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521109" y="1027798"/>
            <a:ext cx="10972800" cy="53730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endParaRPr lang="en-US" dirty="0">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81DB5FDB-0E17-B77D-6430-08DC72470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7535" y="843313"/>
            <a:ext cx="4109883" cy="5487978"/>
          </a:xfrm>
          <a:prstGeom prst="rect">
            <a:avLst/>
          </a:prstGeom>
        </p:spPr>
      </p:pic>
      <p:sp>
        <p:nvSpPr>
          <p:cNvPr id="6" name="TextBox 5">
            <a:extLst>
              <a:ext uri="{FF2B5EF4-FFF2-40B4-BE49-F238E27FC236}">
                <a16:creationId xmlns:a16="http://schemas.microsoft.com/office/drawing/2014/main" id="{4FE88A74-78B5-3EB8-DB6D-6ABE9E9B4D36}"/>
              </a:ext>
            </a:extLst>
          </p:cNvPr>
          <p:cNvSpPr txBox="1"/>
          <p:nvPr/>
        </p:nvSpPr>
        <p:spPr>
          <a:xfrm>
            <a:off x="4970207" y="6302483"/>
            <a:ext cx="29718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Fig.2 Prototype Snapshot </a:t>
            </a:r>
          </a:p>
        </p:txBody>
      </p:sp>
    </p:spTree>
    <p:extLst>
      <p:ext uri="{BB962C8B-B14F-4D97-AF65-F5344CB8AC3E}">
        <p14:creationId xmlns:p14="http://schemas.microsoft.com/office/powerpoint/2010/main" val="1098718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45280" y="41133"/>
            <a:ext cx="8046721" cy="461665"/>
          </a:xfrm>
          <a:prstGeom prst="rect">
            <a:avLst/>
          </a:prstGeom>
        </p:spPr>
        <p:txBody>
          <a:bodyPr wrap="square">
            <a:spAutoFit/>
          </a:bodyPr>
          <a:lstStyle/>
          <a:p>
            <a:pPr algn="ctr"/>
            <a:r>
              <a:rPr lang="en-US" sz="2400" dirty="0">
                <a:solidFill>
                  <a:srgbClr val="FFFF00"/>
                </a:solidFill>
                <a:latin typeface="Times New Roman" pitchFamily="18" charset="0"/>
                <a:cs typeface="Times New Roman" pitchFamily="18" charset="0"/>
              </a:rPr>
              <a:t> SDG (Sustainable Development Goal)</a:t>
            </a:r>
            <a:endParaRPr lang="en-US" sz="24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12</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1"/>
          <p:cNvSpPr txBox="1">
            <a:spLocks/>
          </p:cNvSpPr>
          <p:nvPr/>
        </p:nvSpPr>
        <p:spPr>
          <a:xfrm>
            <a:off x="688258" y="1174954"/>
            <a:ext cx="10972800" cy="43308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endParaRPr lang="en-IN"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22EA8212-3C05-2D7D-E57A-3BB255E53EC1}"/>
              </a:ext>
            </a:extLst>
          </p:cNvPr>
          <p:cNvSpPr txBox="1"/>
          <p:nvPr/>
        </p:nvSpPr>
        <p:spPr>
          <a:xfrm>
            <a:off x="5287788" y="2056918"/>
            <a:ext cx="5761703" cy="2158924"/>
          </a:xfrm>
          <a:prstGeom prst="rect">
            <a:avLst/>
          </a:prstGeom>
          <a:noFill/>
        </p:spPr>
        <p:txBody>
          <a:bodyPr wrap="square" rtlCol="0">
            <a:spAutoFit/>
          </a:bodyPr>
          <a:lstStyle/>
          <a:p>
            <a:pPr algn="just">
              <a:lnSpc>
                <a:spcPct val="107000"/>
              </a:lnSpc>
              <a:spcAft>
                <a:spcPts val="800"/>
              </a:spcAft>
              <a:buNone/>
            </a:pPr>
            <a:r>
              <a:rPr lang="en-US" sz="1800" dirty="0">
                <a:solidFill>
                  <a:srgbClr val="0F243E"/>
                </a:solidFill>
                <a:effectLst/>
                <a:latin typeface="Times New Roman" panose="02020603050405020304" pitchFamily="18" charset="0"/>
                <a:ea typeface="Calibri" panose="020F0502020204030204" pitchFamily="34" charset="0"/>
              </a:rPr>
              <a:t>1. SDG 9 -Industry, Innovation, and Infrastructure</a:t>
            </a:r>
            <a:endParaRPr lang="en-IN" sz="1800" dirty="0">
              <a:solidFill>
                <a:srgbClr val="000000"/>
              </a:solidFill>
              <a:effectLst/>
              <a:latin typeface="Calibri" panose="020F0502020204030204" pitchFamily="34" charset="0"/>
              <a:ea typeface="Calibri" panose="020F0502020204030204" pitchFamily="34" charset="0"/>
            </a:endParaRPr>
          </a:p>
          <a:p>
            <a:pPr algn="just">
              <a:lnSpc>
                <a:spcPct val="107000"/>
              </a:lnSpc>
              <a:spcAft>
                <a:spcPts val="800"/>
              </a:spcAft>
              <a:buNone/>
            </a:pPr>
            <a:r>
              <a:rPr lang="en-US" sz="1800" dirty="0">
                <a:solidFill>
                  <a:srgbClr val="0F243E"/>
                </a:solidFill>
                <a:effectLst/>
                <a:latin typeface="Times New Roman" panose="02020603050405020304" pitchFamily="18" charset="0"/>
                <a:ea typeface="Calibri" panose="020F0502020204030204" pitchFamily="34" charset="0"/>
              </a:rPr>
              <a:t>Promotes the use of innovative technologies and smart infrastructure.</a:t>
            </a:r>
            <a:endParaRPr lang="en-IN" sz="1800" dirty="0">
              <a:solidFill>
                <a:srgbClr val="000000"/>
              </a:solidFill>
              <a:effectLst/>
              <a:latin typeface="Calibri" panose="020F0502020204030204" pitchFamily="34" charset="0"/>
              <a:ea typeface="Calibri" panose="020F0502020204030204" pitchFamily="34" charset="0"/>
            </a:endParaRPr>
          </a:p>
          <a:p>
            <a:pPr algn="just">
              <a:lnSpc>
                <a:spcPct val="107000"/>
              </a:lnSpc>
              <a:spcAft>
                <a:spcPts val="800"/>
              </a:spcAft>
            </a:pPr>
            <a:r>
              <a:rPr lang="en-US" sz="1800" dirty="0">
                <a:solidFill>
                  <a:srgbClr val="0F243E"/>
                </a:solidFill>
                <a:effectLst/>
                <a:latin typeface="Times New Roman" panose="02020603050405020304" pitchFamily="18" charset="0"/>
                <a:ea typeface="Calibri" panose="020F0502020204030204" pitchFamily="34" charset="0"/>
              </a:rPr>
              <a:t>Encourages IoT and automation adoption in public and institutional spaces, showcasing technological progress.</a:t>
            </a:r>
            <a:endParaRPr lang="en-IN" sz="1800" dirty="0">
              <a:solidFill>
                <a:srgbClr val="000000"/>
              </a:solidFill>
              <a:effectLst/>
              <a:latin typeface="Calibri" panose="020F0502020204030204" pitchFamily="34" charset="0"/>
              <a:ea typeface="Calibri" panose="020F0502020204030204" pitchFamily="34" charset="0"/>
            </a:endParaRPr>
          </a:p>
          <a:p>
            <a:endParaRPr lang="en-IN" dirty="0"/>
          </a:p>
        </p:txBody>
      </p:sp>
      <p:pic>
        <p:nvPicPr>
          <p:cNvPr id="3" name="Picture 2">
            <a:extLst>
              <a:ext uri="{FF2B5EF4-FFF2-40B4-BE49-F238E27FC236}">
                <a16:creationId xmlns:a16="http://schemas.microsoft.com/office/drawing/2014/main" id="{0B16A20E-91FA-4FF6-C9D6-7F6D9DF05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6013" y="1876152"/>
            <a:ext cx="2882732" cy="2928495"/>
          </a:xfrm>
          <a:prstGeom prst="rect">
            <a:avLst/>
          </a:prstGeom>
        </p:spPr>
      </p:pic>
    </p:spTree>
    <p:extLst>
      <p:ext uri="{BB962C8B-B14F-4D97-AF65-F5344CB8AC3E}">
        <p14:creationId xmlns:p14="http://schemas.microsoft.com/office/powerpoint/2010/main" val="2914397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Conclusion</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13</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609600" y="2011680"/>
            <a:ext cx="10972800" cy="44653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endParaRPr lang="en-IN" dirty="0">
              <a:latin typeface="Times New Roman" pitchFamily="18" charset="0"/>
              <a:cs typeface="Times New Roman" pitchFamily="18" charset="0"/>
            </a:endParaRPr>
          </a:p>
        </p:txBody>
      </p:sp>
      <p:sp>
        <p:nvSpPr>
          <p:cNvPr id="2" name="TextBox 1">
            <a:extLst>
              <a:ext uri="{FF2B5EF4-FFF2-40B4-BE49-F238E27FC236}">
                <a16:creationId xmlns:a16="http://schemas.microsoft.com/office/drawing/2014/main" id="{705D49F0-E74B-C1E4-AC22-2067F7D1DB7B}"/>
              </a:ext>
            </a:extLst>
          </p:cNvPr>
          <p:cNvSpPr txBox="1"/>
          <p:nvPr/>
        </p:nvSpPr>
        <p:spPr>
          <a:xfrm>
            <a:off x="378541" y="1120878"/>
            <a:ext cx="11434917" cy="3209084"/>
          </a:xfrm>
          <a:prstGeom prst="rect">
            <a:avLst/>
          </a:prstGeom>
          <a:noFill/>
        </p:spPr>
        <p:txBody>
          <a:bodyPr wrap="square" rtlCol="0">
            <a:spAutoFit/>
          </a:bodyPr>
          <a:lstStyle/>
          <a:p>
            <a:pPr algn="just">
              <a:lnSpc>
                <a:spcPct val="107000"/>
              </a:lnSpc>
              <a:spcAft>
                <a:spcPts val="800"/>
              </a:spcAft>
              <a:buNone/>
            </a:pPr>
            <a:r>
              <a:rPr lang="en-US" sz="2000" dirty="0">
                <a:solidFill>
                  <a:srgbClr val="0F243E"/>
                </a:solidFill>
                <a:effectLst/>
                <a:latin typeface="Times New Roman" panose="02020603050405020304" pitchFamily="18" charset="0"/>
                <a:ea typeface="Calibri" panose="020F0502020204030204" pitchFamily="34" charset="0"/>
              </a:rPr>
              <a:t>The IoT-based flag hoisting system demonstrates an effective integration of automation, wireless communication, and real-time control to modernize a traditional ceremonial process. By using components such as ESP32, motor drivers, limit switches, and real-time clocks, the system ensures safe, accurate, and scheduled hoisting of flags with minimal human intervention.</a:t>
            </a:r>
            <a:endParaRPr lang="en-IN" sz="2000" dirty="0">
              <a:solidFill>
                <a:srgbClr val="000000"/>
              </a:solidFill>
              <a:effectLst/>
              <a:latin typeface="Calibri" panose="020F0502020204030204" pitchFamily="34" charset="0"/>
              <a:ea typeface="Calibri" panose="020F0502020204030204" pitchFamily="34" charset="0"/>
            </a:endParaRPr>
          </a:p>
          <a:p>
            <a:pPr algn="just">
              <a:lnSpc>
                <a:spcPct val="107000"/>
              </a:lnSpc>
              <a:spcAft>
                <a:spcPts val="800"/>
              </a:spcAft>
            </a:pPr>
            <a:r>
              <a:rPr lang="en-US" sz="2000" dirty="0">
                <a:solidFill>
                  <a:srgbClr val="0F243E"/>
                </a:solidFill>
                <a:effectLst/>
                <a:latin typeface="Times New Roman" panose="02020603050405020304" pitchFamily="18" charset="0"/>
                <a:ea typeface="Calibri" panose="020F0502020204030204" pitchFamily="34" charset="0"/>
              </a:rPr>
              <a:t>This project not only reduces manual effort but also enhances reliability, precision, and remote accessibility. It aligns with the principles of smart infrastructure, supports energy-efficient operation, and reflects real-world applications of IoT in civic and institutional automation. Overall, it stands as a valuable step toward smarter, more sustainable public services and provides a solid foundation for further IoT innovations.</a:t>
            </a:r>
            <a:endParaRPr lang="en-IN" sz="2000" dirty="0">
              <a:solidFill>
                <a:srgbClr val="000000"/>
              </a:solidFill>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1534780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Publications</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14</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511277" y="1140542"/>
            <a:ext cx="10972800" cy="443189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itchFamily="34" charset="0"/>
              <a:buChar char="•"/>
            </a:pPr>
            <a:endParaRPr lang="en-US" dirty="0">
              <a:latin typeface="Times New Roman" pitchFamily="18" charset="0"/>
              <a:cs typeface="Times New Roman" pitchFamily="18" charset="0"/>
            </a:endParaRPr>
          </a:p>
          <a:p>
            <a:pPr marL="342900" indent="-342900" algn="l">
              <a:buFont typeface="Arial" pitchFamily="34" charset="0"/>
              <a:buChar char="•"/>
            </a:pPr>
            <a:endParaRPr lang="en-US" dirty="0">
              <a:latin typeface="Times New Roman" pitchFamily="18" charset="0"/>
              <a:cs typeface="Times New Roman" pitchFamily="18" charset="0"/>
            </a:endParaRPr>
          </a:p>
          <a:p>
            <a:pPr marL="342900" indent="-342900" algn="l">
              <a:buFont typeface="Arial" pitchFamily="34" charset="0"/>
              <a:buChar char="•"/>
            </a:pPr>
            <a:r>
              <a:rPr lang="en-US" dirty="0">
                <a:latin typeface="Times New Roman" pitchFamily="18" charset="0"/>
                <a:cs typeface="Times New Roman" pitchFamily="18" charset="0"/>
              </a:rPr>
              <a:t>We are Going With Patent process </a:t>
            </a:r>
          </a:p>
        </p:txBody>
      </p:sp>
    </p:spTree>
    <p:extLst>
      <p:ext uri="{BB962C8B-B14F-4D97-AF65-F5344CB8AC3E}">
        <p14:creationId xmlns:p14="http://schemas.microsoft.com/office/powerpoint/2010/main" val="1105657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33461" y="41133"/>
            <a:ext cx="7858539" cy="707886"/>
          </a:xfrm>
          <a:prstGeom prst="rect">
            <a:avLst/>
          </a:prstGeom>
        </p:spPr>
        <p:txBody>
          <a:bodyPr wrap="square">
            <a:spAutoFit/>
          </a:bodyPr>
          <a:lstStyle/>
          <a:p>
            <a:pPr algn="ctr"/>
            <a:r>
              <a:rPr lang="en-US" sz="4000" dirty="0">
                <a:solidFill>
                  <a:srgbClr val="FFFF00"/>
                </a:solidFill>
                <a:latin typeface="Times New Roman" pitchFamily="18" charset="0"/>
                <a:cs typeface="Times New Roman" pitchFamily="18" charset="0"/>
              </a:rPr>
              <a:t>References</a:t>
            </a:r>
            <a:endParaRPr lang="en-US" sz="4000" b="1"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15</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8D43DD6A-24FA-7CBB-E6E7-05D4EEB3CE20}"/>
              </a:ext>
            </a:extLst>
          </p:cNvPr>
          <p:cNvSpPr txBox="1">
            <a:spLocks/>
          </p:cNvSpPr>
          <p:nvPr/>
        </p:nvSpPr>
        <p:spPr>
          <a:xfrm>
            <a:off x="481781" y="1595424"/>
            <a:ext cx="10972800" cy="41198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a:buFont typeface="+mj-lt"/>
              <a:buAutoNum type="arabicPeriod"/>
            </a:pPr>
            <a:r>
              <a:rPr lang="en-US" sz="2000" dirty="0">
                <a:solidFill>
                  <a:srgbClr val="0F243E"/>
                </a:solidFill>
                <a:effectLst/>
                <a:latin typeface="Times New Roman" panose="02020603050405020304" pitchFamily="18" charset="0"/>
                <a:ea typeface="Calibri" panose="020F0502020204030204" pitchFamily="34" charset="0"/>
              </a:rPr>
              <a:t>Kaur, P., &amp; Sharma, R. (2018). Smart Flag Hoisting Using IoT. Proceedings of the International Conference on Intelligent Computing and Control Systems (ICICCS), IEEE</a:t>
            </a:r>
          </a:p>
          <a:p>
            <a:pPr marL="457200" indent="-457200" algn="just">
              <a:buFont typeface="+mj-lt"/>
              <a:buAutoNum type="arabicPeriod"/>
            </a:pPr>
            <a:r>
              <a:rPr lang="en-US" sz="2000" dirty="0">
                <a:solidFill>
                  <a:srgbClr val="0F243E"/>
                </a:solidFill>
                <a:effectLst/>
                <a:latin typeface="Times New Roman" panose="02020603050405020304" pitchFamily="18" charset="0"/>
                <a:ea typeface="Calibri" panose="020F0502020204030204" pitchFamily="34" charset="0"/>
              </a:rPr>
              <a:t>Raj, R., &amp; Singh, A. (2021). IoT-Based Automation System Using ESP8266 and Sensors. International Journal of Engineering Research &amp; Technology (IJERT), 10(06), 250–254.</a:t>
            </a:r>
            <a:endParaRPr lang="en-IN" sz="2000" dirty="0">
              <a:solidFill>
                <a:srgbClr val="000000"/>
              </a:solidFill>
              <a:latin typeface="Calibri" panose="020F0502020204030204" pitchFamily="34" charset="0"/>
              <a:ea typeface="Calibri" panose="020F0502020204030204" pitchFamily="34" charset="0"/>
            </a:endParaRPr>
          </a:p>
          <a:p>
            <a:pPr marL="457200" indent="-457200" algn="just">
              <a:buFont typeface="+mj-lt"/>
              <a:buAutoNum type="arabicPeriod"/>
            </a:pPr>
            <a:r>
              <a:rPr lang="en-US" sz="2000" dirty="0">
                <a:solidFill>
                  <a:srgbClr val="0F243E"/>
                </a:solidFill>
                <a:effectLst/>
                <a:latin typeface="Times New Roman" panose="02020603050405020304" pitchFamily="18" charset="0"/>
                <a:ea typeface="Calibri" panose="020F0502020204030204" pitchFamily="34" charset="0"/>
              </a:rPr>
              <a:t>Patil, S., &amp; Khandekar, S. (2020). Smart Automation Using IoT: A Review. International Research Journal of Engineering and Technology (IRJET), 7(4), 1429–1433.</a:t>
            </a:r>
          </a:p>
          <a:p>
            <a:pPr marL="457200" indent="-457200" algn="just">
              <a:buFont typeface="+mj-lt"/>
              <a:buAutoNum type="arabicPeriod"/>
            </a:pPr>
            <a:r>
              <a:rPr lang="en-US" sz="2000" dirty="0">
                <a:solidFill>
                  <a:srgbClr val="0F243E"/>
                </a:solidFill>
                <a:effectLst/>
                <a:latin typeface="Times New Roman" panose="02020603050405020304" pitchFamily="18" charset="0"/>
                <a:ea typeface="Calibri" panose="020F0502020204030204" pitchFamily="34" charset="0"/>
              </a:rPr>
              <a:t>Ahmed, S., &amp; Rao, P. (2019). Real-Time Embedded Systems for Automation Using IoT. International Journal of Advanced Research in Computer Science, 10(2), 567–572.</a:t>
            </a:r>
            <a:endParaRPr lang="en-IN" sz="2000" dirty="0">
              <a:solidFill>
                <a:srgbClr val="000000"/>
              </a:solidFill>
              <a:effectLst/>
              <a:latin typeface="Calibri" panose="020F0502020204030204" pitchFamily="34" charset="0"/>
              <a:ea typeface="Calibri" panose="020F0502020204030204" pitchFamily="34" charset="0"/>
            </a:endParaRPr>
          </a:p>
          <a:p>
            <a:pPr marL="457200" indent="-457200" algn="just">
              <a:buFont typeface="+mj-lt"/>
              <a:buAutoNum type="arabicPeriod"/>
            </a:pPr>
            <a:endParaRPr lang="en-IN" sz="2000" dirty="0">
              <a:solidFill>
                <a:srgbClr val="000000"/>
              </a:solidFill>
              <a:effectLst/>
              <a:latin typeface="Calibri" panose="020F0502020204030204" pitchFamily="34" charset="0"/>
              <a:ea typeface="Calibri" panose="020F0502020204030204" pitchFamily="34" charset="0"/>
            </a:endParaRPr>
          </a:p>
          <a:p>
            <a:pPr algn="l"/>
            <a:endParaRPr lang="en-US"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3123996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1">
            <a:extLst>
              <a:ext uri="{FF2B5EF4-FFF2-40B4-BE49-F238E27FC236}">
                <a16:creationId xmlns:a16="http://schemas.microsoft.com/office/drawing/2014/main" id="{35BA0F2C-1484-486B-8A09-E7CE0DC70951}"/>
              </a:ext>
            </a:extLst>
          </p:cNvPr>
          <p:cNvSpPr txBox="1">
            <a:spLocks/>
          </p:cNvSpPr>
          <p:nvPr/>
        </p:nvSpPr>
        <p:spPr>
          <a:xfrm>
            <a:off x="4038600" y="65852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2">
            <a:extLst>
              <a:ext uri="{FF2B5EF4-FFF2-40B4-BE49-F238E27FC236}">
                <a16:creationId xmlns:a16="http://schemas.microsoft.com/office/drawing/2014/main" id="{C1B5EE31-6826-412D-81E9-C9CA3679233E}"/>
              </a:ext>
            </a:extLst>
          </p:cNvPr>
          <p:cNvSpPr txBox="1">
            <a:spLocks/>
          </p:cNvSpPr>
          <p:nvPr/>
        </p:nvSpPr>
        <p:spPr>
          <a:xfrm>
            <a:off x="8610600" y="657349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pPr/>
              <a:t>16</a:t>
            </a:fld>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464351" y="2733056"/>
            <a:ext cx="9591039" cy="1015663"/>
          </a:xfrm>
          <a:prstGeom prst="rect">
            <a:avLst/>
          </a:prstGeom>
        </p:spPr>
        <p:txBody>
          <a:bodyPr wrap="square">
            <a:spAutoFit/>
          </a:bodyPr>
          <a:lstStyle/>
          <a:p>
            <a:pPr algn="ctr"/>
            <a:r>
              <a:rPr lang="en-IN" sz="6000" dirty="0">
                <a:latin typeface="Times New Roman" pitchFamily="18" charset="0"/>
                <a:cs typeface="Times New Roman" pitchFamily="18" charset="0"/>
              </a:rPr>
              <a:t>Any Questions ?</a:t>
            </a:r>
          </a:p>
        </p:txBody>
      </p:sp>
    </p:spTree>
    <p:extLst>
      <p:ext uri="{BB962C8B-B14F-4D97-AF65-F5344CB8AC3E}">
        <p14:creationId xmlns:p14="http://schemas.microsoft.com/office/powerpoint/2010/main" val="213337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E75DBC-EEA1-4E48-B5C8-6CA73DF6A4E2}"/>
              </a:ext>
            </a:extLst>
          </p:cNvPr>
          <p:cNvPicPr>
            <a:picLocks noChangeAspect="1"/>
          </p:cNvPicPr>
          <p:nvPr/>
        </p:nvPicPr>
        <p:blipFill rotWithShape="1">
          <a:blip r:embed="rId2" cstate="print"/>
          <a:srcRect t="11504" b="30595"/>
          <a:stretch/>
        </p:blipFill>
        <p:spPr>
          <a:xfrm>
            <a:off x="499038" y="998461"/>
            <a:ext cx="11193924" cy="4861078"/>
          </a:xfrm>
          <a:prstGeom prst="rect">
            <a:avLst/>
          </a:prstGeom>
        </p:spPr>
      </p:pic>
      <p:sp>
        <p:nvSpPr>
          <p:cNvPr id="5" name="Footer Placeholder 1">
            <a:extLst>
              <a:ext uri="{FF2B5EF4-FFF2-40B4-BE49-F238E27FC236}">
                <a16:creationId xmlns:a16="http://schemas.microsoft.com/office/drawing/2014/main" id="{339141FB-EF5E-4258-96DA-EDA54854A3D8}"/>
              </a:ext>
            </a:extLst>
          </p:cNvPr>
          <p:cNvSpPr>
            <a:spLocks noGrp="1"/>
          </p:cNvSpPr>
          <p:nvPr>
            <p:ph type="ftr" sz="quarter" idx="11"/>
          </p:nvPr>
        </p:nvSpPr>
        <p:spPr>
          <a:xfrm>
            <a:off x="4038600" y="6585285"/>
            <a:ext cx="4114800" cy="365125"/>
          </a:xfrm>
        </p:spPr>
        <p:txBody>
          <a:bodyPr/>
          <a:lstStyle/>
          <a:p>
            <a:r>
              <a:rPr lang="en-US" b="1" dirty="0">
                <a:solidFill>
                  <a:schemeClr val="tx1"/>
                </a:solidFill>
                <a:latin typeface="Times New Roman" panose="02020603050405020304" pitchFamily="18" charset="0"/>
                <a:cs typeface="Times New Roman" panose="02020603050405020304" pitchFamily="18" charset="0"/>
              </a:rPr>
              <a:t>DAYANANDA SAGAR COLLEGE OF ENGINEERING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2">
            <a:extLst>
              <a:ext uri="{FF2B5EF4-FFF2-40B4-BE49-F238E27FC236}">
                <a16:creationId xmlns:a16="http://schemas.microsoft.com/office/drawing/2014/main" id="{F335D58A-5462-4712-89C1-7F895B96DD5D}"/>
              </a:ext>
            </a:extLst>
          </p:cNvPr>
          <p:cNvSpPr>
            <a:spLocks noGrp="1"/>
          </p:cNvSpPr>
          <p:nvPr>
            <p:ph type="sldNum" sz="quarter" idx="12"/>
          </p:nvPr>
        </p:nvSpPr>
        <p:spPr>
          <a:xfrm>
            <a:off x="8610600" y="6573497"/>
            <a:ext cx="2743200" cy="365125"/>
          </a:xfrm>
        </p:spPr>
        <p:txBody>
          <a:bodyPr/>
          <a:lstStyle/>
          <a:p>
            <a:fld id="{46A87611-411F-4010-8D8B-06BA0FB9B814}" type="slidenum">
              <a:rPr lang="en-IN" b="1" smtClean="0">
                <a:solidFill>
                  <a:schemeClr val="tx1"/>
                </a:solidFill>
                <a:latin typeface="Times New Roman" panose="02020603050405020304" pitchFamily="18" charset="0"/>
                <a:cs typeface="Times New Roman" panose="02020603050405020304" pitchFamily="18" charset="0"/>
              </a:rPr>
              <a:t>17</a:t>
            </a:fld>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24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2519</TotalTime>
  <Words>1506</Words>
  <Application>Microsoft Office PowerPoint</Application>
  <PresentationFormat>Widescreen</PresentationFormat>
  <Paragraphs>120</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DSCE-Principal</dc:creator>
  <cp:lastModifiedBy>LAXMINARAYANA P</cp:lastModifiedBy>
  <cp:revision>272</cp:revision>
  <dcterms:created xsi:type="dcterms:W3CDTF">2024-05-03T05:57:47Z</dcterms:created>
  <dcterms:modified xsi:type="dcterms:W3CDTF">2025-05-30T07:37:40Z</dcterms:modified>
</cp:coreProperties>
</file>